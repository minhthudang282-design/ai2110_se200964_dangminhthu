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15240">
            <a:solidFill>
              <a:srgbClr val="D8E4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0" y="65105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1A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RW Battery · Group 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w_edit/pptx_unzip/ppt/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2855"/>
            <a:ext cx="2971800" cy="11585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65960"/>
            <a:ext cx="103327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65D"/>
                </a:solidFill>
              </a:rPr>
              <a:t>Cross-Battery State-of-Health Estimation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7365D"/>
                </a:solidFill>
              </a:rPr>
              <a:t>under Randomized Loading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3310128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Leakage-safe evaluation · uncertainty · EOL behavior · model interpretation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794760" y="3822192"/>
            <a:ext cx="4617720" cy="0"/>
          </a:xfrm>
          <a:prstGeom prst="line">
            <a:avLst/>
          </a:prstGeom>
          <a:noFill/>
          <a:ln w="17780">
            <a:solidFill>
              <a:srgbClr val="D8E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0520" y="4114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64B"/>
                </a:solidFill>
              </a:rPr>
              <a:t>Thu Dang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0" y="4517136"/>
            <a:ext cx="6720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738A"/>
                </a:solidFill>
              </a:rPr>
              <a:t>Supervisor: Lê Võ Minh Thư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1738A"/>
                </a:solidFill>
              </a:rPr>
              <a:t>ADY201m · FPT University Ho Chi Minh City · 2026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166360" y="5669280"/>
            <a:ext cx="1874520" cy="41148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GROUP 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parts, one storyline: problem → evidence → reliable modeling.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3566160"/>
          </a:xfrm>
          <a:prstGeom prst="roundRect">
            <a:avLst>
              <a:gd name="adj" fmla="val 1333"/>
            </a:avLst>
          </a:prstGeom>
          <a:solidFill>
            <a:srgbClr val="EEF5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PART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3108960" cy="29626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Understanding the Problem &amp; Data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Research questions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Problem &amp; gap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Data understanding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Six SQL tasks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29000" cy="3566160"/>
          </a:xfrm>
          <a:prstGeom prst="roundRect">
            <a:avLst>
              <a:gd name="adj" fmla="val 1333"/>
            </a:avLst>
          </a:prstGeom>
          <a:solidFill>
            <a:srgbClr val="ECF8F0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234440"/>
            <a:ext cx="73152" cy="3566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PART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709928"/>
            <a:ext cx="3108960" cy="29626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Python Analysis &amp; Visualization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Degradation trajectory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Cross-cell heterogeneity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Exposure-controlled evidence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29000" cy="3566160"/>
          </a:xfrm>
          <a:prstGeom prst="roundRect">
            <a:avLst>
              <a:gd name="adj" fmla="val 1333"/>
            </a:avLst>
          </a:prstGeom>
          <a:solidFill>
            <a:srgbClr val="F4EE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234440"/>
            <a:ext cx="73152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PART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1709928"/>
            <a:ext cx="3108960" cy="29626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Modeling, Reliability &amp; Reflection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Five-model comparison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Uncertainty &amp; EOL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XAI / ablation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Tool &amp; reflection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75157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question: Can SOH be estimated credibly for a completely unseen RW battery?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4434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423160"/>
            <a:ext cx="10744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</a:rPr>
              <a:t>Understanding the Problem &amp; Data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77824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</a:rPr>
              <a:t>Research Questions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5012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9876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</a:rPr>
              <a:t>Problem Statement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7064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</a:rPr>
              <a:t>Data Understanding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19388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74252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</a:rPr>
              <a:t>SQL Queries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Questions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questions drive the analysis and the final presentation.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4023360"/>
          </a:xfrm>
          <a:prstGeom prst="roundRect">
            <a:avLst>
              <a:gd name="adj" fmla="val 1333"/>
            </a:avLst>
          </a:prstGeom>
          <a:solidFill>
            <a:srgbClr val="EEF5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4023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RQ1 · Degradation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3108960" cy="34198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How does cumulative usage relate to SOH?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Do recent 50-step load summaries add residual information after cumulative exposure is controlled?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29000" cy="4023360"/>
          </a:xfrm>
          <a:prstGeom prst="roundRect">
            <a:avLst>
              <a:gd name="adj" fmla="val 1333"/>
            </a:avLst>
          </a:prstGeom>
          <a:solidFill>
            <a:srgbClr val="ECF8F0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234440"/>
            <a:ext cx="73152" cy="4023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RQ2 · Generalization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709928"/>
            <a:ext cx="3108960" cy="34198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Which regression family performs best on completely unseen battery cells under repeated cell-disjoint evaluation?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29000" cy="4023360"/>
          </a:xfrm>
          <a:prstGeom prst="roundRect">
            <a:avLst>
              <a:gd name="adj" fmla="val 1333"/>
            </a:avLst>
          </a:prstGeom>
          <a:solidFill>
            <a:srgbClr val="F4EE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234440"/>
            <a:ext cx="73152" cy="402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RQ3 · Reliability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1709928"/>
            <a:ext cx="3108960" cy="34198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How reliable is the selected model near EOL?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Which inputs matter most, and what is the compute trade-off?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75157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Presentation rule: answer RQ1 → RQ2 → RQ3 in the same order.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evaluation must match the real deployment question: unseen batteries.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154680" cy="1234440"/>
          </a:xfrm>
          <a:prstGeom prst="roundRect">
            <a:avLst>
              <a:gd name="adj" fmla="val 2963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53312"/>
            <a:ext cx="2935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UNSEEN CELL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1801368"/>
            <a:ext cx="29352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Target deployment setting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154680" cy="1234440"/>
          </a:xfrm>
          <a:prstGeom prst="roundRect">
            <a:avLst>
              <a:gd name="adj" fmla="val 2963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353312"/>
            <a:ext cx="2935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WHOLE-CELL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36008" y="1801368"/>
            <a:ext cx="29352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Train / calibration / test split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321040" y="1234440"/>
            <a:ext cx="3154680" cy="1234440"/>
          </a:xfrm>
          <a:prstGeom prst="roundRect">
            <a:avLst>
              <a:gd name="adj" fmla="val 2963"/>
            </a:avLst>
          </a:prstGeom>
          <a:solidFill>
            <a:srgbClr val="F4EE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353312"/>
            <a:ext cx="2935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MACRO-CELL MAE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30768" y="1801368"/>
            <a:ext cx="29352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Equal weight per held-out battery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52120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788920"/>
            <a:ext cx="73152" cy="214884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3522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</a:rPr>
              <a:t>Why row-wise splitting is risky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264408"/>
            <a:ext cx="4892040" cy="1545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Neighboring rows from the same cell share degradation history and often the same next-reference SOH. Mixing them across train and test can make transfer look easier than it is.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63640" y="2788920"/>
            <a:ext cx="52120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278892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93522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Project objective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264408"/>
            <a:ext cx="4892040" cy="1545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Estimate next-reference SOH, compare five models on unseen cells, then evaluate uncertainty, EOL behavior, model dependence, and computational cost.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66013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Key design choice: separate complete battery cells before any final scoring.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Gap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contribution is an integrated evaluation design—not a claim that prior methods are inferior.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2331720" cy="438912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2276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Study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17520" y="1298448"/>
            <a:ext cx="960120" cy="438912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4952" y="1417320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Unseen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77640" y="1298448"/>
            <a:ext cx="960120" cy="438912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5072" y="1417320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Random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822960" cy="438912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17320"/>
            <a:ext cx="7680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Unc.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0" y="1298448"/>
            <a:ext cx="731520" cy="438912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8152" y="1417320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EOL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1298448"/>
            <a:ext cx="731520" cy="438912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417320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XAI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1298448"/>
            <a:ext cx="960120" cy="438912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51192" y="1417320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Repeated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3880" y="1298448"/>
            <a:ext cx="731520" cy="438912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1417320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1847088"/>
            <a:ext cx="23317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002536"/>
            <a:ext cx="2276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24364B"/>
                </a:solidFill>
              </a:rPr>
              <a:t>Bole et al.</a:t>
            </a:r>
            <a:endParaRPr lang="en-US" sz="1170" dirty="0"/>
          </a:p>
        </p:txBody>
      </p:sp>
      <p:sp>
        <p:nvSpPr>
          <p:cNvPr id="22" name="Shape 20"/>
          <p:cNvSpPr/>
          <p:nvPr/>
        </p:nvSpPr>
        <p:spPr>
          <a:xfrm>
            <a:off x="3017520" y="184708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4952" y="200253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3977640" y="184708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200253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✓</a:t>
            </a:r>
            <a:endParaRPr lang="en-US" sz="1170" dirty="0"/>
          </a:p>
        </p:txBody>
      </p:sp>
      <p:sp>
        <p:nvSpPr>
          <p:cNvPr id="26" name="Shape 24"/>
          <p:cNvSpPr/>
          <p:nvPr/>
        </p:nvSpPr>
        <p:spPr>
          <a:xfrm>
            <a:off x="4937760" y="1847088"/>
            <a:ext cx="82296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002536"/>
            <a:ext cx="7680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28" name="Shape 26"/>
          <p:cNvSpPr/>
          <p:nvPr/>
        </p:nvSpPr>
        <p:spPr>
          <a:xfrm>
            <a:off x="5760720" y="184708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200253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30" name="Shape 28"/>
          <p:cNvSpPr/>
          <p:nvPr/>
        </p:nvSpPr>
        <p:spPr>
          <a:xfrm>
            <a:off x="6492240" y="184708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200253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32" name="Shape 30"/>
          <p:cNvSpPr/>
          <p:nvPr/>
        </p:nvSpPr>
        <p:spPr>
          <a:xfrm>
            <a:off x="7223760" y="184708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200253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34" name="Shape 32"/>
          <p:cNvSpPr/>
          <p:nvPr/>
        </p:nvSpPr>
        <p:spPr>
          <a:xfrm>
            <a:off x="8183880" y="184708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11312" y="200253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36" name="Shape 34"/>
          <p:cNvSpPr/>
          <p:nvPr/>
        </p:nvSpPr>
        <p:spPr>
          <a:xfrm>
            <a:off x="685800" y="2395728"/>
            <a:ext cx="23317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2551176"/>
            <a:ext cx="2276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24364B"/>
                </a:solidFill>
              </a:rPr>
              <a:t>Richardson et al.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3017520" y="239572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4952" y="255117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△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3977640" y="239572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5072" y="255117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42" name="Shape 40"/>
          <p:cNvSpPr/>
          <p:nvPr/>
        </p:nvSpPr>
        <p:spPr>
          <a:xfrm>
            <a:off x="4937760" y="2395728"/>
            <a:ext cx="82296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2551176"/>
            <a:ext cx="7680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✓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>
            <a:off x="5760720" y="239572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88152" y="255117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>
            <a:off x="6492240" y="239572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255117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48" name="Shape 46"/>
          <p:cNvSpPr/>
          <p:nvPr/>
        </p:nvSpPr>
        <p:spPr>
          <a:xfrm>
            <a:off x="7223760" y="239572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51192" y="255117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50" name="Shape 48"/>
          <p:cNvSpPr/>
          <p:nvPr/>
        </p:nvSpPr>
        <p:spPr>
          <a:xfrm>
            <a:off x="8183880" y="239572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11312" y="255117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52" name="Shape 50"/>
          <p:cNvSpPr/>
          <p:nvPr/>
        </p:nvSpPr>
        <p:spPr>
          <a:xfrm>
            <a:off x="685800" y="2944368"/>
            <a:ext cx="23317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3099816"/>
            <a:ext cx="2276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24364B"/>
                </a:solidFill>
              </a:rPr>
              <a:t>Yang et al.</a:t>
            </a:r>
            <a:endParaRPr lang="en-US" sz="1170" dirty="0"/>
          </a:p>
        </p:txBody>
      </p:sp>
      <p:sp>
        <p:nvSpPr>
          <p:cNvPr id="54" name="Shape 52"/>
          <p:cNvSpPr/>
          <p:nvPr/>
        </p:nvSpPr>
        <p:spPr>
          <a:xfrm>
            <a:off x="3017520" y="294436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44952" y="309981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△</a:t>
            </a:r>
            <a:endParaRPr lang="en-US" sz="1170" dirty="0"/>
          </a:p>
        </p:txBody>
      </p:sp>
      <p:sp>
        <p:nvSpPr>
          <p:cNvPr id="56" name="Shape 54"/>
          <p:cNvSpPr/>
          <p:nvPr/>
        </p:nvSpPr>
        <p:spPr>
          <a:xfrm>
            <a:off x="3977640" y="294436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05072" y="309981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△</a:t>
            </a:r>
            <a:endParaRPr lang="en-US" sz="1170" dirty="0"/>
          </a:p>
        </p:txBody>
      </p:sp>
      <p:sp>
        <p:nvSpPr>
          <p:cNvPr id="58" name="Shape 56"/>
          <p:cNvSpPr/>
          <p:nvPr/>
        </p:nvSpPr>
        <p:spPr>
          <a:xfrm>
            <a:off x="4937760" y="2944368"/>
            <a:ext cx="82296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65192" y="3099816"/>
            <a:ext cx="7680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60" name="Shape 58"/>
          <p:cNvSpPr/>
          <p:nvPr/>
        </p:nvSpPr>
        <p:spPr>
          <a:xfrm>
            <a:off x="5760720" y="294436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88152" y="309981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62" name="Shape 60"/>
          <p:cNvSpPr/>
          <p:nvPr/>
        </p:nvSpPr>
        <p:spPr>
          <a:xfrm>
            <a:off x="6492240" y="294436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19672" y="309981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64" name="Shape 62"/>
          <p:cNvSpPr/>
          <p:nvPr/>
        </p:nvSpPr>
        <p:spPr>
          <a:xfrm>
            <a:off x="7223760" y="294436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51192" y="309981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66" name="Shape 64"/>
          <p:cNvSpPr/>
          <p:nvPr/>
        </p:nvSpPr>
        <p:spPr>
          <a:xfrm>
            <a:off x="8183880" y="294436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11312" y="309981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68" name="Shape 66"/>
          <p:cNvSpPr/>
          <p:nvPr/>
        </p:nvSpPr>
        <p:spPr>
          <a:xfrm>
            <a:off x="685800" y="3493008"/>
            <a:ext cx="23317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" y="3648456"/>
            <a:ext cx="2276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24364B"/>
                </a:solidFill>
              </a:rPr>
              <a:t>Chen et al.</a:t>
            </a:r>
            <a:endParaRPr lang="en-US" sz="1170" dirty="0"/>
          </a:p>
        </p:txBody>
      </p:sp>
      <p:sp>
        <p:nvSpPr>
          <p:cNvPr id="70" name="Shape 68"/>
          <p:cNvSpPr/>
          <p:nvPr/>
        </p:nvSpPr>
        <p:spPr>
          <a:xfrm>
            <a:off x="3017520" y="349300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44952" y="364845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✓</a:t>
            </a:r>
            <a:endParaRPr lang="en-US" sz="1170" dirty="0"/>
          </a:p>
        </p:txBody>
      </p:sp>
      <p:sp>
        <p:nvSpPr>
          <p:cNvPr id="72" name="Shape 70"/>
          <p:cNvSpPr/>
          <p:nvPr/>
        </p:nvSpPr>
        <p:spPr>
          <a:xfrm>
            <a:off x="3977640" y="349300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05072" y="364845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74" name="Shape 72"/>
          <p:cNvSpPr/>
          <p:nvPr/>
        </p:nvSpPr>
        <p:spPr>
          <a:xfrm>
            <a:off x="4937760" y="3493008"/>
            <a:ext cx="82296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65192" y="3648456"/>
            <a:ext cx="7680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76" name="Shape 74"/>
          <p:cNvSpPr/>
          <p:nvPr/>
        </p:nvSpPr>
        <p:spPr>
          <a:xfrm>
            <a:off x="5760720" y="349300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88152" y="364845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78" name="Shape 76"/>
          <p:cNvSpPr/>
          <p:nvPr/>
        </p:nvSpPr>
        <p:spPr>
          <a:xfrm>
            <a:off x="6492240" y="349300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19672" y="364845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80" name="Shape 78"/>
          <p:cNvSpPr/>
          <p:nvPr/>
        </p:nvSpPr>
        <p:spPr>
          <a:xfrm>
            <a:off x="7223760" y="349300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51192" y="364845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82" name="Shape 80"/>
          <p:cNvSpPr/>
          <p:nvPr/>
        </p:nvSpPr>
        <p:spPr>
          <a:xfrm>
            <a:off x="8183880" y="349300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11312" y="364845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84" name="Shape 82"/>
          <p:cNvSpPr/>
          <p:nvPr/>
        </p:nvSpPr>
        <p:spPr>
          <a:xfrm>
            <a:off x="685800" y="4041648"/>
            <a:ext cx="23317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3232" y="4197096"/>
            <a:ext cx="2276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24364B"/>
                </a:solidFill>
              </a:rPr>
              <a:t>Ma et al.</a:t>
            </a:r>
            <a:endParaRPr lang="en-US" sz="1170" dirty="0"/>
          </a:p>
        </p:txBody>
      </p:sp>
      <p:sp>
        <p:nvSpPr>
          <p:cNvPr id="86" name="Shape 84"/>
          <p:cNvSpPr/>
          <p:nvPr/>
        </p:nvSpPr>
        <p:spPr>
          <a:xfrm>
            <a:off x="3017520" y="404164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44952" y="419709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✓</a:t>
            </a:r>
            <a:endParaRPr lang="en-US" sz="1170" dirty="0"/>
          </a:p>
        </p:txBody>
      </p:sp>
      <p:sp>
        <p:nvSpPr>
          <p:cNvPr id="88" name="Shape 86"/>
          <p:cNvSpPr/>
          <p:nvPr/>
        </p:nvSpPr>
        <p:spPr>
          <a:xfrm>
            <a:off x="3977640" y="404164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005072" y="419709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90" name="Shape 88"/>
          <p:cNvSpPr/>
          <p:nvPr/>
        </p:nvSpPr>
        <p:spPr>
          <a:xfrm>
            <a:off x="4937760" y="4041648"/>
            <a:ext cx="82296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65192" y="4197096"/>
            <a:ext cx="7680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92" name="Shape 90"/>
          <p:cNvSpPr/>
          <p:nvPr/>
        </p:nvSpPr>
        <p:spPr>
          <a:xfrm>
            <a:off x="5760720" y="404164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88152" y="419709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94" name="Shape 92"/>
          <p:cNvSpPr/>
          <p:nvPr/>
        </p:nvSpPr>
        <p:spPr>
          <a:xfrm>
            <a:off x="6492240" y="404164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19672" y="419709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96" name="Shape 94"/>
          <p:cNvSpPr/>
          <p:nvPr/>
        </p:nvSpPr>
        <p:spPr>
          <a:xfrm>
            <a:off x="7223760" y="4041648"/>
            <a:ext cx="9601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51192" y="419709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98" name="Shape 96"/>
          <p:cNvSpPr/>
          <p:nvPr/>
        </p:nvSpPr>
        <p:spPr>
          <a:xfrm>
            <a:off x="8183880" y="4041648"/>
            <a:ext cx="731520" cy="530352"/>
          </a:xfrm>
          <a:prstGeom prst="rect">
            <a:avLst/>
          </a:prstGeom>
          <a:solidFill>
            <a:srgbClr val="F4F8FD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211312" y="419709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100" name="Shape 98"/>
          <p:cNvSpPr/>
          <p:nvPr/>
        </p:nvSpPr>
        <p:spPr>
          <a:xfrm>
            <a:off x="685800" y="4590288"/>
            <a:ext cx="23317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3232" y="4745736"/>
            <a:ext cx="2276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24364B"/>
                </a:solidFill>
              </a:rPr>
              <a:t>Mondal et al.</a:t>
            </a:r>
            <a:endParaRPr lang="en-US" sz="1170" dirty="0"/>
          </a:p>
        </p:txBody>
      </p:sp>
      <p:sp>
        <p:nvSpPr>
          <p:cNvPr id="102" name="Shape 100"/>
          <p:cNvSpPr/>
          <p:nvPr/>
        </p:nvSpPr>
        <p:spPr>
          <a:xfrm>
            <a:off x="3017520" y="459028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44952" y="474573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✓</a:t>
            </a:r>
            <a:endParaRPr lang="en-US" sz="1170" dirty="0"/>
          </a:p>
        </p:txBody>
      </p:sp>
      <p:sp>
        <p:nvSpPr>
          <p:cNvPr id="104" name="Shape 102"/>
          <p:cNvSpPr/>
          <p:nvPr/>
        </p:nvSpPr>
        <p:spPr>
          <a:xfrm>
            <a:off x="3977640" y="459028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005072" y="474573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106" name="Shape 104"/>
          <p:cNvSpPr/>
          <p:nvPr/>
        </p:nvSpPr>
        <p:spPr>
          <a:xfrm>
            <a:off x="4937760" y="4590288"/>
            <a:ext cx="82296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965192" y="4745736"/>
            <a:ext cx="7680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108" name="Shape 106"/>
          <p:cNvSpPr/>
          <p:nvPr/>
        </p:nvSpPr>
        <p:spPr>
          <a:xfrm>
            <a:off x="5760720" y="459028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788152" y="474573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110" name="Shape 108"/>
          <p:cNvSpPr/>
          <p:nvPr/>
        </p:nvSpPr>
        <p:spPr>
          <a:xfrm>
            <a:off x="6492240" y="459028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519672" y="474573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112" name="Shape 110"/>
          <p:cNvSpPr/>
          <p:nvPr/>
        </p:nvSpPr>
        <p:spPr>
          <a:xfrm>
            <a:off x="7223760" y="4590288"/>
            <a:ext cx="9601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251192" y="474573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△</a:t>
            </a:r>
            <a:endParaRPr lang="en-US" sz="1170" dirty="0"/>
          </a:p>
        </p:txBody>
      </p:sp>
      <p:sp>
        <p:nvSpPr>
          <p:cNvPr id="114" name="Shape 112"/>
          <p:cNvSpPr/>
          <p:nvPr/>
        </p:nvSpPr>
        <p:spPr>
          <a:xfrm>
            <a:off x="8183880" y="4590288"/>
            <a:ext cx="731520" cy="530352"/>
          </a:xfrm>
          <a:prstGeom prst="rect">
            <a:avLst/>
          </a:prstGeom>
          <a:solidFill>
            <a:srgbClr val="FAFCF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211312" y="474573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24364B"/>
                </a:solidFill>
              </a:rPr>
              <a:t>–</a:t>
            </a:r>
            <a:endParaRPr lang="en-US" sz="1170" dirty="0"/>
          </a:p>
        </p:txBody>
      </p:sp>
      <p:sp>
        <p:nvSpPr>
          <p:cNvPr id="116" name="Shape 114"/>
          <p:cNvSpPr/>
          <p:nvPr/>
        </p:nvSpPr>
        <p:spPr>
          <a:xfrm>
            <a:off x="685800" y="5138928"/>
            <a:ext cx="2331720" cy="530352"/>
          </a:xfrm>
          <a:prstGeom prst="rect">
            <a:avLst/>
          </a:prstGeom>
          <a:solidFill>
            <a:srgbClr val="EAF7E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13232" y="5294376"/>
            <a:ext cx="22768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6A34A"/>
                </a:solidFill>
              </a:rPr>
              <a:t>Our work</a:t>
            </a:r>
            <a:endParaRPr lang="en-US" sz="1170" dirty="0"/>
          </a:p>
        </p:txBody>
      </p:sp>
      <p:sp>
        <p:nvSpPr>
          <p:cNvPr id="118" name="Shape 116"/>
          <p:cNvSpPr/>
          <p:nvPr/>
        </p:nvSpPr>
        <p:spPr>
          <a:xfrm>
            <a:off x="3017520" y="5138928"/>
            <a:ext cx="960120" cy="530352"/>
          </a:xfrm>
          <a:prstGeom prst="rect">
            <a:avLst/>
          </a:prstGeom>
          <a:solidFill>
            <a:srgbClr val="EAF7E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044952" y="529437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6A34A"/>
                </a:solidFill>
              </a:rPr>
              <a:t>✓</a:t>
            </a:r>
            <a:endParaRPr lang="en-US" sz="1170" dirty="0"/>
          </a:p>
        </p:txBody>
      </p:sp>
      <p:sp>
        <p:nvSpPr>
          <p:cNvPr id="120" name="Shape 118"/>
          <p:cNvSpPr/>
          <p:nvPr/>
        </p:nvSpPr>
        <p:spPr>
          <a:xfrm>
            <a:off x="3977640" y="5138928"/>
            <a:ext cx="960120" cy="530352"/>
          </a:xfrm>
          <a:prstGeom prst="rect">
            <a:avLst/>
          </a:prstGeom>
          <a:solidFill>
            <a:srgbClr val="EAF7E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005072" y="529437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6A34A"/>
                </a:solidFill>
              </a:rPr>
              <a:t>✓</a:t>
            </a:r>
            <a:endParaRPr lang="en-US" sz="1170" dirty="0"/>
          </a:p>
        </p:txBody>
      </p:sp>
      <p:sp>
        <p:nvSpPr>
          <p:cNvPr id="122" name="Shape 120"/>
          <p:cNvSpPr/>
          <p:nvPr/>
        </p:nvSpPr>
        <p:spPr>
          <a:xfrm>
            <a:off x="4937760" y="5138928"/>
            <a:ext cx="822960" cy="530352"/>
          </a:xfrm>
          <a:prstGeom prst="rect">
            <a:avLst/>
          </a:prstGeom>
          <a:solidFill>
            <a:srgbClr val="EAF7E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65192" y="5294376"/>
            <a:ext cx="7680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6A34A"/>
                </a:solidFill>
              </a:rPr>
              <a:t>✓</a:t>
            </a:r>
            <a:endParaRPr lang="en-US" sz="1170" dirty="0"/>
          </a:p>
        </p:txBody>
      </p:sp>
      <p:sp>
        <p:nvSpPr>
          <p:cNvPr id="124" name="Shape 122"/>
          <p:cNvSpPr/>
          <p:nvPr/>
        </p:nvSpPr>
        <p:spPr>
          <a:xfrm>
            <a:off x="5760720" y="5138928"/>
            <a:ext cx="731520" cy="530352"/>
          </a:xfrm>
          <a:prstGeom prst="rect">
            <a:avLst/>
          </a:prstGeom>
          <a:solidFill>
            <a:srgbClr val="EAF7E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788152" y="529437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6A34A"/>
                </a:solidFill>
              </a:rPr>
              <a:t>✓</a:t>
            </a:r>
            <a:endParaRPr lang="en-US" sz="1170" dirty="0"/>
          </a:p>
        </p:txBody>
      </p:sp>
      <p:sp>
        <p:nvSpPr>
          <p:cNvPr id="126" name="Shape 124"/>
          <p:cNvSpPr/>
          <p:nvPr/>
        </p:nvSpPr>
        <p:spPr>
          <a:xfrm>
            <a:off x="6492240" y="5138928"/>
            <a:ext cx="731520" cy="530352"/>
          </a:xfrm>
          <a:prstGeom prst="rect">
            <a:avLst/>
          </a:prstGeom>
          <a:solidFill>
            <a:srgbClr val="EAF7E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519672" y="529437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6A34A"/>
                </a:solidFill>
              </a:rPr>
              <a:t>✓</a:t>
            </a:r>
            <a:endParaRPr lang="en-US" sz="1170" dirty="0"/>
          </a:p>
        </p:txBody>
      </p:sp>
      <p:sp>
        <p:nvSpPr>
          <p:cNvPr id="128" name="Shape 126"/>
          <p:cNvSpPr/>
          <p:nvPr/>
        </p:nvSpPr>
        <p:spPr>
          <a:xfrm>
            <a:off x="7223760" y="5138928"/>
            <a:ext cx="960120" cy="530352"/>
          </a:xfrm>
          <a:prstGeom prst="rect">
            <a:avLst/>
          </a:prstGeom>
          <a:solidFill>
            <a:srgbClr val="EAF7E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251192" y="5294376"/>
            <a:ext cx="9052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6A34A"/>
                </a:solidFill>
              </a:rPr>
              <a:t>✓</a:t>
            </a:r>
            <a:endParaRPr lang="en-US" sz="1170" dirty="0"/>
          </a:p>
        </p:txBody>
      </p:sp>
      <p:sp>
        <p:nvSpPr>
          <p:cNvPr id="130" name="Shape 128"/>
          <p:cNvSpPr/>
          <p:nvPr/>
        </p:nvSpPr>
        <p:spPr>
          <a:xfrm>
            <a:off x="8183880" y="5138928"/>
            <a:ext cx="731520" cy="530352"/>
          </a:xfrm>
          <a:prstGeom prst="rect">
            <a:avLst/>
          </a:prstGeom>
          <a:solidFill>
            <a:srgbClr val="EAF7EF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11312" y="5294376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6A34A"/>
                </a:solidFill>
              </a:rPr>
              <a:t>✓</a:t>
            </a:r>
            <a:endParaRPr lang="en-US" sz="1170" dirty="0"/>
          </a:p>
        </p:txBody>
      </p:sp>
      <p:sp>
        <p:nvSpPr>
          <p:cNvPr id="132" name="Shape 130"/>
          <p:cNvSpPr/>
          <p:nvPr/>
        </p:nvSpPr>
        <p:spPr>
          <a:xfrm>
            <a:off x="640080" y="5779008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41248" y="5907024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Gap addressed: randomized use + unseen-cell evaluation + uncertainty + EOL + interpretation + repeated splits + cost.</a:t>
            </a:r>
            <a:endParaRPr lang="en-US" sz="1400" dirty="0"/>
          </a:p>
        </p:txBody>
      </p:sp>
      <p:sp>
        <p:nvSpPr>
          <p:cNvPr id="1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Understanding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raw NASA RW records to the final supervised SOH modeling table.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468880" cy="1234440"/>
          </a:xfrm>
          <a:prstGeom prst="roundRect">
            <a:avLst>
              <a:gd name="adj" fmla="val 2963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07592"/>
            <a:ext cx="22494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28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5528" y="1755648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cells · RW1–RW28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468880" cy="1234440"/>
          </a:xfrm>
          <a:prstGeom prst="roundRect">
            <a:avLst>
              <a:gd name="adj" fmla="val 2963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307592"/>
            <a:ext cx="22494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1,117,894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93008" y="1755648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raw records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080760" y="1188720"/>
            <a:ext cx="2468880" cy="1234440"/>
          </a:xfrm>
          <a:prstGeom prst="roundRect">
            <a:avLst>
              <a:gd name="adj" fmla="val 2963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307592"/>
            <a:ext cx="22494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947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90488" y="1755648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valid reference discharges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778240" y="1188720"/>
            <a:ext cx="2468880" cy="1234440"/>
          </a:xfrm>
          <a:prstGeom prst="roundRect">
            <a:avLst>
              <a:gd name="adj" fmla="val 2963"/>
            </a:avLst>
          </a:prstGeom>
          <a:solidFill>
            <a:srgbClr val="F4EE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7968" y="1307592"/>
            <a:ext cx="22494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548,010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87968" y="1755648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final rows with 50-step history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85800" y="278892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788920"/>
            <a:ext cx="73152" cy="1920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3522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Target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264408"/>
            <a:ext cx="3154680" cy="13167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Next valid reference capacity ÷ that cell’s initial valid reference capacity = SOH.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370832" y="278892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0832" y="2788920"/>
            <a:ext cx="73152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93522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Inputs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3264408"/>
            <a:ext cx="3154680" cy="13167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14 model inputs: instantaneous electrical / thermal features, cumulative Ah, 50-step summaries, and 2 temperature-missingness indicators.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046720" y="2788920"/>
            <a:ext cx="32004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278892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293522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EOL &amp; scope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3264408"/>
            <a:ext cx="2880360" cy="13167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EOL threshold: SOH ≤ 0.80.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Evidence comes from controlled NASA experiments; external operational validation is still needed.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50-step history = current operational step + previous 49 steps within the same cell.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 Alignment &amp; Data Quality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row reduction comes from honest temporal alignment—not aggressive cleaning.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993392" cy="1051560"/>
          </a:xfrm>
          <a:prstGeom prst="roundRect">
            <a:avLst>
              <a:gd name="adj" fmla="val 3478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289304"/>
            <a:ext cx="17739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1,117,894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737360"/>
            <a:ext cx="17739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Raw records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2596896" y="1444752"/>
            <a:ext cx="219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71216" y="1170432"/>
            <a:ext cx="1993392" cy="1051560"/>
          </a:xfrm>
          <a:prstGeom prst="roundRect">
            <a:avLst>
              <a:gd name="adj" fmla="val 3478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1289304"/>
            <a:ext cx="17739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554,522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80944" y="1737360"/>
            <a:ext cx="17739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Operational C/D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901184" y="1444752"/>
            <a:ext cx="219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75504" y="1170432"/>
            <a:ext cx="1993392" cy="1051560"/>
          </a:xfrm>
          <a:prstGeom prst="roundRect">
            <a:avLst>
              <a:gd name="adj" fmla="val 3478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289304"/>
            <a:ext cx="17739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549,382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85232" y="1737360"/>
            <a:ext cx="17739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Next-ref SOH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205472" y="1444752"/>
            <a:ext cx="219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79792" y="1170432"/>
            <a:ext cx="1993392" cy="1051560"/>
          </a:xfrm>
          <a:prstGeom prst="roundRect">
            <a:avLst>
              <a:gd name="adj" fmla="val 3478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289304"/>
            <a:ext cx="17739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548,010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89520" y="1737360"/>
            <a:ext cx="17739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50-step history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509760" y="1444752"/>
            <a:ext cx="219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84080" y="1170432"/>
            <a:ext cx="1993392" cy="1051560"/>
          </a:xfrm>
          <a:prstGeom prst="roundRect">
            <a:avLst>
              <a:gd name="adj" fmla="val 3478"/>
            </a:avLst>
          </a:prstGeom>
          <a:solidFill>
            <a:srgbClr val="F4EE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1289304"/>
            <a:ext cx="17739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14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93808" y="1737360"/>
            <a:ext cx="17739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Final inputs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31520" y="2880360"/>
            <a:ext cx="33832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2880360"/>
            <a:ext cx="731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0266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Missing SOH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355848"/>
            <a:ext cx="3063240" cy="14630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</a:rPr>
              <a:t>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434840" y="2880360"/>
            <a:ext cx="33832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34840" y="2880360"/>
            <a:ext cx="731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0266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Invalid SOH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17720" y="3355848"/>
            <a:ext cx="3063240" cy="14630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</a:rPr>
              <a:t>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138160" y="2880360"/>
            <a:ext cx="33832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0" y="2880360"/>
            <a:ext cx="731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0266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History ≠ 50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3355848"/>
            <a:ext cx="3063240" cy="14630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</a:rPr>
              <a:t>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31520" y="3840480"/>
            <a:ext cx="33832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3840480"/>
            <a:ext cx="731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9867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Negative duration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315968"/>
            <a:ext cx="3063240" cy="14630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</a:rPr>
              <a:t>0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434840" y="3840480"/>
            <a:ext cx="33832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34840" y="3840480"/>
            <a:ext cx="731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9867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Negative Ah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17720" y="4315968"/>
            <a:ext cx="3063240" cy="14630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</a:rPr>
              <a:t>0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138160" y="3840480"/>
            <a:ext cx="33832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38160" y="3840480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39867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Temp sentinels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21040" y="4315968"/>
            <a:ext cx="3063240" cy="14630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</a:rPr>
              <a:t>13,239 missing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40080" y="516636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" y="529437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4D"/>
                </a:solidFill>
              </a:rPr>
              <a:t>Leakage guard: predictors use current/past operational information; the future reference check is used only as the label.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 · What Matters Before Modeling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degradation structure exists, but cross-cell heterogeneity changes how evaluation should be done.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154680" cy="1280160"/>
          </a:xfrm>
          <a:prstGeom prst="roundRect">
            <a:avLst>
              <a:gd name="adj" fmla="val 2857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53312"/>
            <a:ext cx="2935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B82F6"/>
                </a:solidFill>
              </a:rPr>
              <a:t>−0.9961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1801368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Median cell-wise Spearman · cumulative Ah vs SOH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154680" cy="1280160"/>
          </a:xfrm>
          <a:prstGeom prst="roundRect">
            <a:avLst>
              <a:gd name="adj" fmla="val 2857"/>
            </a:avLst>
          </a:prstGeom>
          <a:solidFill>
            <a:srgbClr val="FFF6E8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353312"/>
            <a:ext cx="2935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</a:rPr>
              <a:t>2.93×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636008" y="1801368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Fastest vs slowest degradation-rate spread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321040" y="1234440"/>
            <a:ext cx="3154680" cy="1280160"/>
          </a:xfrm>
          <a:prstGeom prst="roundRect">
            <a:avLst>
              <a:gd name="adj" fmla="val 2857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353312"/>
            <a:ext cx="2935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0.331–0.989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30768" y="1801368"/>
            <a:ext cx="293522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SOH range after full history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3337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880360"/>
            <a:ext cx="73152" cy="18745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2666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</a:rPr>
              <a:t>Plateaus matter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355848"/>
            <a:ext cx="3017520" cy="127101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24364B"/>
                </a:solidFill>
              </a:rPr>
              <a:t>Neighboring operational rows can share the same next-reference SOH → row-wise splits can leak highly related observations.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4434840" y="2880360"/>
            <a:ext cx="3337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2880360"/>
            <a:ext cx="73152" cy="1874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02666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Exposure dominates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3355848"/>
            <a:ext cx="3017520" cy="127101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24364B"/>
                </a:solidFill>
              </a:rPr>
              <a:t>Cumulative Ah rises while SOH generally falls. It is the strongest degradation coordinate in the data.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138160" y="2880360"/>
            <a:ext cx="3337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288036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02666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Cells differ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3355848"/>
            <a:ext cx="3017520" cy="127101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24364B"/>
                </a:solidFill>
              </a:rPr>
              <a:t>A single pooled error can hide transfer difficulty. Primary scoring should balance held-out batteries.</a:t>
            </a:r>
            <a:endParaRPr lang="en-US" sz="158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EDA motivates the protocol: cell-disjoint splits + macro-cell metrics.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Queries ·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Six distinct SQL tasks satisfy the 2-student × 3 requirement and support the research questions.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257800" cy="1170432"/>
          </a:xfrm>
          <a:prstGeom prst="roundRect">
            <a:avLst>
              <a:gd name="adj" fmla="val 3906"/>
            </a:avLst>
          </a:prstGeom>
          <a:solidFill>
            <a:srgbClr val="EEF5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Q1 · SOH by cumulative-throughput bin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4937760" cy="5669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GROUP BY · HAVING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5257800" cy="1170432"/>
          </a:xfrm>
          <a:prstGeom prst="roundRect">
            <a:avLst>
              <a:gd name="adj" fmla="val 3906"/>
            </a:avLst>
          </a:prstGeom>
          <a:solidFill>
            <a:srgbClr val="ECF8F0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234440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38074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Q2 · Load severity by health state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709928"/>
            <a:ext cx="4937760" cy="5669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CASE · aggregation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31520" y="2715768"/>
            <a:ext cx="5257800" cy="1170432"/>
          </a:xfrm>
          <a:prstGeom prst="roundRect">
            <a:avLst>
              <a:gd name="adj" fmla="val 3906"/>
            </a:avLst>
          </a:prstGeom>
          <a:solidFill>
            <a:srgbClr val="F4EE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15768"/>
            <a:ext cx="73152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62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Q3 · Leakage-safe 50-step history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191256"/>
            <a:ext cx="4937760" cy="5669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window functions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355080" y="2715768"/>
            <a:ext cx="5257800" cy="1170432"/>
          </a:xfrm>
          <a:prstGeom prst="roundRect">
            <a:avLst>
              <a:gd name="adj" fmla="val 3906"/>
            </a:avLst>
          </a:prstGeom>
          <a:solidFill>
            <a:srgbClr val="FFF6E8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2715768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862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Q4 · Final feature-table checks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191256"/>
            <a:ext cx="4937760" cy="5669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CASE · SUM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31520" y="4197096"/>
            <a:ext cx="5257800" cy="1170432"/>
          </a:xfrm>
          <a:prstGeom prst="roundRect">
            <a:avLst>
              <a:gd name="adj" fmla="val 3906"/>
            </a:avLst>
          </a:prstGeom>
          <a:solidFill>
            <a:srgbClr val="FFF0F1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97096"/>
            <a:ext cx="73152" cy="1170432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434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</a:rPr>
              <a:t>Q5 · Cross-cell degradation slope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672584"/>
            <a:ext cx="4937760" cy="5669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CTE · REGR_SLOPE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355080" y="4197096"/>
            <a:ext cx="5257800" cy="1170432"/>
          </a:xfrm>
          <a:prstGeom prst="roundRect">
            <a:avLst>
              <a:gd name="adj" fmla="val 3906"/>
            </a:avLst>
          </a:prstGeom>
          <a:solidFill>
            <a:srgbClr val="EFF4FA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4197096"/>
            <a:ext cx="73152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3434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Q6 · EOL prevalence across cells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672584"/>
            <a:ext cx="4937760" cy="5669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CTE · conditional aggregation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640080" y="58064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9344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Main deck shows the SQL idea + result; full query code stays in the notebook for Q&amp;A.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Q1 · SOH vs Cumulative Throughput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readable bins to summarize the degradation pattern; the bins are descriptive, not the training target.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617720" cy="3566160"/>
          </a:xfrm>
          <a:prstGeom prst="roundRect">
            <a:avLst>
              <a:gd name="adj" fmla="val 1282"/>
            </a:avLst>
          </a:prstGeom>
          <a:solidFill>
            <a:srgbClr val="EEF5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SQL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4297680" cy="29626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4364B"/>
                </a:solidFill>
              </a:rPr>
              <a:t>FLOOR(cum_ah / 100) → Ah bin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64B"/>
                </a:solidFill>
              </a:rPr>
              <a:t>GROUP BY cell, ah_bin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64B"/>
                </a:solidFill>
              </a:rPr>
              <a:t>HAVING COUNT(*) ≥ 20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64B"/>
                </a:solidFill>
              </a:rPr>
              <a:t>Output: 499 bins across 28 cells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0" y="1234440"/>
            <a:ext cx="2651760" cy="1234440"/>
          </a:xfrm>
          <a:prstGeom prst="roundRect">
            <a:avLst>
              <a:gd name="adj" fmla="val 2963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9008" y="1353312"/>
            <a:ext cx="2432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0.979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79008" y="1801368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RW1 mean SOH · 0–99 Ah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641080" y="1234440"/>
            <a:ext cx="2651760" cy="1234440"/>
          </a:xfrm>
          <a:prstGeom prst="roundRect">
            <a:avLst>
              <a:gd name="adj" fmla="val 2963"/>
            </a:avLst>
          </a:prstGeom>
          <a:solidFill>
            <a:srgbClr val="FFF6E8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0808" y="1353312"/>
            <a:ext cx="2432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0.813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50808" y="1801368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RW1 mean SOH · ~1,000 Ah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150608" y="2788920"/>
            <a:ext cx="2651760" cy="1234440"/>
          </a:xfrm>
          <a:prstGeom prst="roundRect">
            <a:avLst>
              <a:gd name="adj" fmla="val 2963"/>
            </a:avLst>
          </a:prstGeom>
          <a:solidFill>
            <a:srgbClr val="FFF0F1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0336" y="2907792"/>
            <a:ext cx="2432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484D"/>
                </a:solidFill>
              </a:rPr>
              <a:t>0.616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60336" y="3355848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RW1 mean SOH · ~1,800 Ah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Q1 takeaway: SOH generally decreases as accumulated operational throughput increases.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Q2 · Load Severity by Health State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healthy, aged, and EOL rows descriptively—without causal interpretation.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886200" cy="3611880"/>
          </a:xfrm>
          <a:prstGeom prst="roundRect">
            <a:avLst>
              <a:gd name="adj" fmla="val 1266"/>
            </a:avLst>
          </a:prstGeom>
          <a:solidFill>
            <a:srgbClr val="ECF8F0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3611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SQL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3566160" cy="300837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CASE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  healthy: SOH &gt; 0.90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  aged:   0.80 &lt; SOH ≤ 0.90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  EOL:    SOH ≤ 0.80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Then aggregate count, current, temperature, duration, step Ah, and cumulative Ah.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83480" y="1508760"/>
            <a:ext cx="1188720" cy="475488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63677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1325880" cy="475488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636776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1508760"/>
            <a:ext cx="1234440" cy="475488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25512" y="1636776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|I|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32520" y="1508760"/>
            <a:ext cx="1325880" cy="475488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9952" y="1636776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Tmax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0" y="1508760"/>
            <a:ext cx="1417320" cy="475488"/>
          </a:xfrm>
          <a:prstGeom prst="rect">
            <a:avLst/>
          </a:prstGeom>
          <a:solidFill>
            <a:srgbClr val="1736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85832" y="1636776"/>
            <a:ext cx="13624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Cum. Ah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2075688"/>
            <a:ext cx="1188720" cy="566928"/>
          </a:xfrm>
          <a:prstGeom prst="rect">
            <a:avLst/>
          </a:prstGeom>
          <a:solidFill>
            <a:srgbClr val="ECF8F0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2240280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64B"/>
                </a:solidFill>
              </a:rPr>
              <a:t>Healthy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2075688"/>
            <a:ext cx="1325880" cy="566928"/>
          </a:xfrm>
          <a:prstGeom prst="rect">
            <a:avLst/>
          </a:prstGeom>
          <a:solidFill>
            <a:srgbClr val="ECF8F0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2240280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119,080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0" y="2075688"/>
            <a:ext cx="1234440" cy="566928"/>
          </a:xfrm>
          <a:prstGeom prst="rect">
            <a:avLst/>
          </a:prstGeom>
          <a:solidFill>
            <a:srgbClr val="ECF8F0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4656" y="2240280"/>
            <a:ext cx="11612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2.477 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32520" y="2075688"/>
            <a:ext cx="1325880" cy="566928"/>
          </a:xfrm>
          <a:prstGeom prst="rect">
            <a:avLst/>
          </a:prstGeom>
          <a:solidFill>
            <a:srgbClr val="ECF8F0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69096" y="2240280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37.51 °C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058400" y="2075688"/>
            <a:ext cx="1417320" cy="566928"/>
          </a:xfrm>
          <a:prstGeom prst="rect">
            <a:avLst/>
          </a:prstGeom>
          <a:solidFill>
            <a:srgbClr val="ECF8F0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4976" y="2240280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255 Ah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83480" y="2642616"/>
            <a:ext cx="1188720" cy="566928"/>
          </a:xfrm>
          <a:prstGeom prst="rect">
            <a:avLst/>
          </a:prstGeom>
          <a:solidFill>
            <a:srgbClr val="FFF6E8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0056" y="2807208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64B"/>
                </a:solidFill>
              </a:rPr>
              <a:t>Aged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72200" y="2642616"/>
            <a:ext cx="1325880" cy="566928"/>
          </a:xfrm>
          <a:prstGeom prst="rect">
            <a:avLst/>
          </a:prstGeom>
          <a:solidFill>
            <a:srgbClr val="FFF6E8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2807208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130,969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98080" y="2642616"/>
            <a:ext cx="1234440" cy="566928"/>
          </a:xfrm>
          <a:prstGeom prst="rect">
            <a:avLst/>
          </a:prstGeom>
          <a:solidFill>
            <a:srgbClr val="FFF6E8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4656" y="2807208"/>
            <a:ext cx="11612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2.506 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732520" y="2642616"/>
            <a:ext cx="1325880" cy="566928"/>
          </a:xfrm>
          <a:prstGeom prst="rect">
            <a:avLst/>
          </a:prstGeom>
          <a:solidFill>
            <a:srgbClr val="FFF6E8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69096" y="2807208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36.16 °C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0058400" y="2642616"/>
            <a:ext cx="1417320" cy="566928"/>
          </a:xfrm>
          <a:prstGeom prst="rect">
            <a:avLst/>
          </a:prstGeom>
          <a:solidFill>
            <a:srgbClr val="FFF6E8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94976" y="2807208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762 Ah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983480" y="3209544"/>
            <a:ext cx="1188720" cy="566928"/>
          </a:xfrm>
          <a:prstGeom prst="rect">
            <a:avLst/>
          </a:prstGeom>
          <a:solidFill>
            <a:srgbClr val="FFF0F1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0056" y="3374136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64B"/>
                </a:solidFill>
              </a:rPr>
              <a:t>EOL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172200" y="3209544"/>
            <a:ext cx="1325880" cy="566928"/>
          </a:xfrm>
          <a:prstGeom prst="rect">
            <a:avLst/>
          </a:prstGeom>
          <a:solidFill>
            <a:srgbClr val="FFF0F1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8776" y="3374136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299,333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498080" y="3209544"/>
            <a:ext cx="1234440" cy="566928"/>
          </a:xfrm>
          <a:prstGeom prst="rect">
            <a:avLst/>
          </a:prstGeom>
          <a:solidFill>
            <a:srgbClr val="FFF0F1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34656" y="3374136"/>
            <a:ext cx="11612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2.411 A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732520" y="3209544"/>
            <a:ext cx="1325880" cy="566928"/>
          </a:xfrm>
          <a:prstGeom prst="rect">
            <a:avLst/>
          </a:prstGeom>
          <a:solidFill>
            <a:srgbClr val="FFF0F1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69096" y="3374136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30.78 °C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0058400" y="3209544"/>
            <a:ext cx="1417320" cy="566928"/>
          </a:xfrm>
          <a:prstGeom prst="rect">
            <a:avLst/>
          </a:prstGeom>
          <a:solidFill>
            <a:srgbClr val="FFF0F1"/>
          </a:solidFill>
          <a:ln w="7620">
            <a:solidFill>
              <a:srgbClr val="E1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94976" y="3374136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64B"/>
                </a:solidFill>
              </a:rPr>
              <a:t>1,999 Ah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Interpretation: EOL rows occur much later in cumulative exposure; current/temperature differences remain descriptive only.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Q3 · 50-Step History Features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rolling window is cell-local and backward-looking, so it does not use future information.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663440" cy="3520440"/>
          </a:xfrm>
          <a:prstGeom prst="roundRect">
            <a:avLst>
              <a:gd name="adj" fmla="val 1299"/>
            </a:avLst>
          </a:prstGeom>
          <a:solidFill>
            <a:srgbClr val="F4EE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3520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Core window logic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4343400" cy="29169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AVG(ABS(i_mean)) OVER 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  PARTITION BY cell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  ORDER BY step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  ROWS BETWEEN 49 PRECEDING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  AND CURRENT ROW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Same pattern → t_max50, ah50, temp_valid_n50.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60720" y="1234440"/>
            <a:ext cx="2423160" cy="1280160"/>
          </a:xfrm>
          <a:prstGeom prst="roundRect">
            <a:avLst>
              <a:gd name="adj" fmla="val 2857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1353312"/>
            <a:ext cx="22037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548,010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70448" y="1801368"/>
            <a:ext cx="22037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rows retained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595360" y="1234440"/>
            <a:ext cx="2423160" cy="1280160"/>
          </a:xfrm>
          <a:prstGeom prst="roundRect">
            <a:avLst>
              <a:gd name="adj" fmla="val 2857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05088" y="1353312"/>
            <a:ext cx="22037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A34A"/>
                </a:solidFill>
              </a:rPr>
              <a:t>28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705088" y="1801368"/>
            <a:ext cx="22037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cells kept intact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178040" y="2788920"/>
            <a:ext cx="2423160" cy="1280160"/>
          </a:xfrm>
          <a:prstGeom prst="roundRect">
            <a:avLst>
              <a:gd name="adj" fmla="val 2857"/>
            </a:avLst>
          </a:prstGeom>
          <a:solidFill>
            <a:srgbClr val="F4EE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2907792"/>
            <a:ext cx="22037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C3AED"/>
                </a:solidFill>
              </a:rPr>
              <a:t>50 steps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287768" y="3355848"/>
            <a:ext cx="22037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current + previous 49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Why it is safe: every rolling statistic uses only current and preceding rows within the same cell.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Q4 · Final Quality Check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Validate the exact feature table used by every downstream model.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206240" cy="3474720"/>
          </a:xfrm>
          <a:prstGeom prst="roundRect">
            <a:avLst>
              <a:gd name="adj" fmla="val 1316"/>
            </a:avLst>
          </a:prstGeom>
          <a:solidFill>
            <a:srgbClr val="FFF6E8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Checks in one query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3886200" cy="287121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COUNT(*) · COUNT(DISTINCT cell)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Missing / invalid SOH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History length ≠ 50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Negative duration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Negative Ah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Temperature sentinels are intentionally kept missing and handled separately.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03520" y="1234440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3248" y="1353312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B82F6"/>
                </a:solidFill>
              </a:rPr>
              <a:t>548,010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13248" y="1801368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Rows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229600" y="1234440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353312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B82F6"/>
                </a:solidFill>
              </a:rPr>
              <a:t>28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39328" y="1801368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Cells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303520" y="2496312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2615184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13248" y="3063240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Missing SOH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229600" y="2496312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615184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39328" y="3063240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Invalid SOH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303520" y="3758184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3877056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13248" y="4325112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Invalid history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8229600" y="3758184"/>
            <a:ext cx="2606040" cy="987552"/>
          </a:xfrm>
          <a:prstGeom prst="roundRect">
            <a:avLst>
              <a:gd name="adj" fmla="val 3704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3877056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0 / 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39328" y="4325112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Negative duration / Ah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Result: all structural / target checks pass before modeling.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Q5 · Cross-Cell Degradation Slope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per-cell regression slope quantifies how differently batteries age with cumulative Ah.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572000" cy="3520440"/>
          </a:xfrm>
          <a:prstGeom prst="roundRect">
            <a:avLst>
              <a:gd name="adj" fmla="val 1299"/>
            </a:avLst>
          </a:prstGeom>
          <a:solidFill>
            <a:srgbClr val="FFF0F1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352044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</a:rPr>
              <a:t>SQL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4251960" cy="29169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WITH per_cell AS (...)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100 × REGR_SLOPE(soh, cum_ah)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GROUP BY cell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Then summarize MIN / MEDIAN / MAX and fastest-to-slowest ratio.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2697480" cy="1261872"/>
          </a:xfrm>
          <a:prstGeom prst="roundRect">
            <a:avLst>
              <a:gd name="adj" fmla="val 2899"/>
            </a:avLst>
          </a:prstGeom>
          <a:solidFill>
            <a:srgbClr val="FFF0F1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353312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5484D"/>
                </a:solidFill>
              </a:rPr>
              <a:t>−0.03808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733288" y="1801368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Fastest decline / 100 Ah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641080" y="1234440"/>
            <a:ext cx="2697480" cy="1261872"/>
          </a:xfrm>
          <a:prstGeom prst="roundRect">
            <a:avLst>
              <a:gd name="adj" fmla="val 2899"/>
            </a:avLst>
          </a:prstGeom>
          <a:solidFill>
            <a:srgbClr val="FFF6E8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0808" y="1353312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</a:rPr>
              <a:t>−0.02034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750808" y="1801368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Median decline / 100 Ah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623560" y="2788920"/>
            <a:ext cx="2697480" cy="1261872"/>
          </a:xfrm>
          <a:prstGeom prst="roundRect">
            <a:avLst>
              <a:gd name="adj" fmla="val 2899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3288" y="2907792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A34A"/>
                </a:solidFill>
              </a:rPr>
              <a:t>−0.01299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733288" y="3355848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Slowest decline / 100 Ah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641080" y="2788920"/>
            <a:ext cx="2697480" cy="1261872"/>
          </a:xfrm>
          <a:prstGeom prst="roundRect">
            <a:avLst>
              <a:gd name="adj" fmla="val 2899"/>
            </a:avLst>
          </a:prstGeom>
          <a:solidFill>
            <a:srgbClr val="F4EE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0808" y="2907792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C3AED"/>
                </a:solidFill>
              </a:rPr>
              <a:t>2.93×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750808" y="3355848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Fastest / slowest spread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Q5 takeaway: degradation pace differs materially across cells → pooled row-weighted error can be misleading.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Q6 · EOL Prevalence Across Cells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Establish how much of the dataset reaches the operational retirement region before evaluating a model.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251960" cy="3520440"/>
          </a:xfrm>
          <a:prstGeom prst="roundRect">
            <a:avLst>
              <a:gd name="adj" fmla="val 1299"/>
            </a:avLst>
          </a:prstGeom>
          <a:solidFill>
            <a:srgbClr val="EEF5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35204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SQL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3931920" cy="29169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24364B"/>
                </a:solidFill>
              </a:rPr>
              <a:t>Per cell: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24364B"/>
                </a:solidFill>
              </a:rPr>
              <a:t>COUNT(*)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24364B"/>
                </a:solidFill>
              </a:rPr>
              <a:t>SUM(CASE WHEN SOH ≤ 0.80 THEN 1 ELSE 0 END)</a:t>
            </a:r>
            <a:endParaRPr lang="en-US" sz="1850" dirty="0"/>
          </a:p>
          <a:p>
            <a:pPr marL="0" indent="0">
              <a:buNone/>
            </a:pP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24364B"/>
                </a:solidFill>
              </a:rPr>
              <a:t>Then aggregate cells reaching EOL, total EOL rows, and EOL row share.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349240" y="1234440"/>
            <a:ext cx="2651760" cy="1280160"/>
          </a:xfrm>
          <a:prstGeom prst="roundRect">
            <a:avLst>
              <a:gd name="adj" fmla="val 2857"/>
            </a:avLst>
          </a:prstGeom>
          <a:solidFill>
            <a:srgbClr val="F4EE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58968" y="1353312"/>
            <a:ext cx="2432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C3AED"/>
                </a:solidFill>
              </a:rPr>
              <a:t>25 / 28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458968" y="1801368"/>
            <a:ext cx="24323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cells reaching EOL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321040" y="1234440"/>
            <a:ext cx="2651760" cy="1280160"/>
          </a:xfrm>
          <a:prstGeom prst="roundRect">
            <a:avLst>
              <a:gd name="adj" fmla="val 2857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0768" y="1353312"/>
            <a:ext cx="2432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B82F6"/>
                </a:solidFill>
              </a:rPr>
              <a:t>299,333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430768" y="1801368"/>
            <a:ext cx="24323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aligned EOL rows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812280" y="2788920"/>
            <a:ext cx="2651760" cy="1280160"/>
          </a:xfrm>
          <a:prstGeom prst="roundRect">
            <a:avLst>
              <a:gd name="adj" fmla="val 2857"/>
            </a:avLst>
          </a:prstGeom>
          <a:solidFill>
            <a:srgbClr val="FFF0F1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22008" y="2907792"/>
            <a:ext cx="24323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484D"/>
                </a:solidFill>
              </a:rPr>
              <a:t>54.49%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22008" y="3355848"/>
            <a:ext cx="243230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EOL row share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4D"/>
                </a:solidFill>
              </a:rPr>
              <a:t>Why it matters: EOL is common, but not universal → report misses / false alarms in addition to global MAE.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RQ1 Evidence · Statistical Handoff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establishes structure; Python adds rank-based and exposure-controlled evidence.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971800" cy="1280160"/>
          </a:xfrm>
          <a:prstGeom prst="roundRect">
            <a:avLst>
              <a:gd name="adj" fmla="val 2857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53312"/>
            <a:ext cx="2752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B82F6"/>
                </a:solidFill>
              </a:rPr>
              <a:t>−0.9961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1801368"/>
            <a:ext cx="27523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Median Spearman · cumulative Ah vs SOH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160520" y="1234440"/>
            <a:ext cx="2971800" cy="1280160"/>
          </a:xfrm>
          <a:prstGeom prst="roundRect">
            <a:avLst>
              <a:gd name="adj" fmla="val 2857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0248" y="1353312"/>
            <a:ext cx="2752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A34A"/>
                </a:solidFill>
              </a:rPr>
              <a:t>p &lt; </a:t>
            </a:r>
            <a:r>
              <a:rPr lang="vi-VN" altLang="en-US" sz="2300" b="1" dirty="0">
                <a:solidFill>
                  <a:srgbClr val="16A34A"/>
                </a:solidFill>
              </a:rPr>
              <a:t>0</a:t>
            </a:r>
            <a:r>
              <a:rPr lang="en-US" sz="2300" b="1" dirty="0">
                <a:solidFill>
                  <a:srgbClr val="16A34A"/>
                </a:solidFill>
              </a:rPr>
              <a:t>.001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270248" y="1801368"/>
            <a:ext cx="27523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One-sided cross-cell Wilcoxon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589520" y="1234440"/>
            <a:ext cx="2971800" cy="1280160"/>
          </a:xfrm>
          <a:prstGeom prst="roundRect">
            <a:avLst>
              <a:gd name="adj" fmla="val 2857"/>
            </a:avLst>
          </a:prstGeom>
          <a:solidFill>
            <a:srgbClr val="FFF6E8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1353312"/>
            <a:ext cx="27523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−0.038…−0.013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99248" y="1801368"/>
            <a:ext cx="27523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Cell-wise slope range / 100 Ah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</a:rPr>
              <a:t>Recent-load association shrinks after controlling cumulative Ah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401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738A"/>
                </a:solidFill>
              </a:rPr>
              <a:t>Feature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4015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38A"/>
                </a:solidFill>
              </a:rPr>
              <a:t>Raw 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340156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38A"/>
                </a:solidFill>
              </a:rPr>
              <a:t>Partial 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78561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64B"/>
                </a:solidFill>
              </a:rPr>
              <a:t>ah50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51760" y="378561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B82F6"/>
                </a:solidFill>
              </a:rPr>
              <a:t>+0.431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69080" y="378561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9E0B"/>
                </a:solidFill>
              </a:rPr>
              <a:t>−0.066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28853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64B"/>
                </a:solidFill>
              </a:rPr>
              <a:t>i_ma50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51760" y="42885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B82F6"/>
                </a:solidFill>
              </a:rPr>
              <a:t>+0.416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69080" y="428853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9E0B"/>
                </a:solidFill>
              </a:rPr>
              <a:t>+0.122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79145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64B"/>
                </a:solidFill>
              </a:rPr>
              <a:t>t_max50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51760" y="47914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B82F6"/>
                </a:solidFill>
              </a:rPr>
              <a:t>+0.159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069080" y="479145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9E0B"/>
                </a:solidFill>
              </a:rPr>
              <a:t>+0.029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2880360"/>
            <a:ext cx="50292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2880360"/>
            <a:ext cx="73152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026664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RQ1 answer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3355848"/>
            <a:ext cx="4709160" cy="13167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Accumulated throughput dominates the monotonic degradation signal. Recent 50-step summaries retain only weak residual monotonic association after exposure is controlled.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Association ≠ causation.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7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4434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423160"/>
            <a:ext cx="10744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</a:rPr>
              <a:t>Python Analysis &amp; Visualization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77824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705A"/>
                </a:solidFill>
              </a:rPr>
              <a:t>Analysis Workflow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5012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9876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705A"/>
                </a:solidFill>
              </a:rPr>
              <a:t>Degradation Trajectory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7064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705A"/>
                </a:solidFill>
              </a:rPr>
              <a:t>Cross-Cell Heterogeneity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19388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74252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705A"/>
                </a:solidFill>
              </a:rPr>
              <a:t>Evidence-Based Insights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leakage-safe chain from target construction to accuracy, uncertainty, and interpretation.</a:t>
            </a:r>
            <a:endParaRPr lang="en-US" sz="1350" dirty="0"/>
          </a:p>
        </p:txBody>
      </p:sp>
      <p:pic>
        <p:nvPicPr>
          <p:cNvPr id="4" name="Image 0" descr="/mnt/data/rw_edit/pptx_unzip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759" y="1234440"/>
            <a:ext cx="10127723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44068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556869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Test evidence never feeds back into fitting: train / calibration / test cells remain separate.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RW10 Degradation Trajectory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SOH changes at reference checks while cumulative operational exposure continues to increase.</a:t>
            </a:r>
            <a:endParaRPr lang="en-US" sz="1350" dirty="0"/>
          </a:p>
        </p:txBody>
      </p:sp>
      <p:pic>
        <p:nvPicPr>
          <p:cNvPr id="4" name="Image 0" descr="/mnt/data/rw_edit/pptx_unzip/ppt/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201" y="1143000"/>
            <a:ext cx="9508838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8064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59344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Plateaus explain the leakage risk: neighboring rows can share the same future reference SOH.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Cross-Cell Degradation Heterogeneity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same overall trend hides markedly different degradation rates across the 28 cells.</a:t>
            </a:r>
            <a:endParaRPr lang="en-US" sz="1350" dirty="0"/>
          </a:p>
        </p:txBody>
      </p:sp>
      <p:pic>
        <p:nvPicPr>
          <p:cNvPr id="4" name="Image 0" descr="/mnt/data/rw_edit/pptx_unzip/ppt/media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756" y="1097280"/>
            <a:ext cx="4998409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371600"/>
            <a:ext cx="3429000" cy="1234440"/>
          </a:xfrm>
          <a:prstGeom prst="roundRect">
            <a:avLst>
              <a:gd name="adj" fmla="val 3704"/>
            </a:avLst>
          </a:prstGeom>
          <a:solidFill>
            <a:srgbClr val="FFF0F1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18120" y="1371600"/>
            <a:ext cx="73152" cy="123444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51790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</a:rPr>
              <a:t>Fastest loss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01000" y="1847088"/>
            <a:ext cx="3108960" cy="6309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0.0381 SOH / 100 Ah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818120" y="2743200"/>
            <a:ext cx="3429000" cy="1234440"/>
          </a:xfrm>
          <a:prstGeom prst="roundRect">
            <a:avLst>
              <a:gd name="adj" fmla="val 3704"/>
            </a:avLst>
          </a:prstGeom>
          <a:solidFill>
            <a:srgbClr val="FFF6E8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18120" y="274320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288950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Median loss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01000" y="3218688"/>
            <a:ext cx="3108960" cy="6309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0.0203 SOH / 100 Ah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7818120" y="4114800"/>
            <a:ext cx="3429000" cy="1234440"/>
          </a:xfrm>
          <a:prstGeom prst="roundRect">
            <a:avLst>
              <a:gd name="adj" fmla="val 3704"/>
            </a:avLst>
          </a:prstGeom>
          <a:solidFill>
            <a:srgbClr val="F4EE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818120" y="411480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426110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Spread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01000" y="4590288"/>
            <a:ext cx="3108960" cy="6309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4364B"/>
                </a:solidFill>
              </a:rPr>
              <a:t>2.93× fastest vs slowest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40080" y="58064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59344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Implication: macro-cell scoring is safer than a row-weighted average when batteries contribute different row counts.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Raw vs Exposure-Controlled Load Associations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Recent-load correlations shrink sharply after controlling cumulative Ah.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840480" y="5230368"/>
            <a:ext cx="7022592" cy="0"/>
          </a:xfrm>
          <a:prstGeom prst="line">
            <a:avLst/>
          </a:prstGeom>
          <a:noFill/>
          <a:ln w="12700">
            <a:solidFill>
              <a:srgbClr val="9AA9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691640"/>
            <a:ext cx="0" cy="3538728"/>
          </a:xfrm>
          <a:prstGeom prst="line">
            <a:avLst/>
          </a:prstGeom>
          <a:noFill/>
          <a:ln w="10160">
            <a:solidFill>
              <a:srgbClr val="E4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39312" y="528523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38A"/>
                </a:solidFill>
              </a:rPr>
              <a:t>-0.1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10912" y="1691640"/>
            <a:ext cx="0" cy="3538728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528523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38A"/>
                </a:solidFill>
              </a:rPr>
              <a:t>0.0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0" cy="3538728"/>
          </a:xfrm>
          <a:prstGeom prst="line">
            <a:avLst/>
          </a:prstGeom>
          <a:noFill/>
          <a:ln w="10160">
            <a:solidFill>
              <a:srgbClr val="E4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0176" y="528523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38A"/>
                </a:solidFill>
              </a:rPr>
              <a:t>0.1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51776" y="1691640"/>
            <a:ext cx="0" cy="3538728"/>
          </a:xfrm>
          <a:prstGeom prst="line">
            <a:avLst/>
          </a:prstGeom>
          <a:noFill/>
          <a:ln w="10160">
            <a:solidFill>
              <a:srgbClr val="E4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528523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38A"/>
                </a:solidFill>
              </a:rPr>
              <a:t>0.2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22208" y="1691640"/>
            <a:ext cx="0" cy="3538728"/>
          </a:xfrm>
          <a:prstGeom prst="line">
            <a:avLst/>
          </a:prstGeom>
          <a:noFill/>
          <a:ln w="10160">
            <a:solidFill>
              <a:srgbClr val="E4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528523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38A"/>
                </a:solidFill>
              </a:rPr>
              <a:t>0.3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92640" y="1691640"/>
            <a:ext cx="0" cy="3538728"/>
          </a:xfrm>
          <a:prstGeom prst="line">
            <a:avLst/>
          </a:prstGeom>
          <a:noFill/>
          <a:ln w="10160">
            <a:solidFill>
              <a:srgbClr val="E4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91472" y="528523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38A"/>
                </a:solidFill>
              </a:rPr>
              <a:t>0.4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863072" y="1691640"/>
            <a:ext cx="0" cy="3538728"/>
          </a:xfrm>
          <a:prstGeom prst="line">
            <a:avLst/>
          </a:prstGeom>
          <a:noFill/>
          <a:ln w="10160">
            <a:solidFill>
              <a:srgbClr val="E4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61904" y="528523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38A"/>
                </a:solidFill>
              </a:rPr>
              <a:t>0.5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177393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364B"/>
                </a:solidFill>
              </a:rPr>
              <a:t>50-step Ah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38427" y="1965960"/>
            <a:ext cx="5817047" cy="0"/>
          </a:xfrm>
          <a:prstGeom prst="line">
            <a:avLst/>
          </a:prstGeom>
          <a:noFill/>
          <a:ln w="31750">
            <a:solidFill>
              <a:srgbClr val="AAB6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82322" y="1892808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5275" y="189280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2554" y="152704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</a:rPr>
              <a:t>raw +0.431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08075" y="2130552"/>
            <a:ext cx="10607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9E0B"/>
                </a:solidFill>
              </a:rPr>
              <a:t>partial -0.066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300837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364B"/>
                </a:solidFill>
              </a:rPr>
              <a:t>50-step mean |I|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38839" y="3200400"/>
            <a:ext cx="3441070" cy="0"/>
          </a:xfrm>
          <a:prstGeom prst="line">
            <a:avLst/>
          </a:prstGeom>
          <a:noFill/>
          <a:ln w="31750">
            <a:solidFill>
              <a:srgbClr val="AAB6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06757" y="3127248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5687" y="31272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6989" y="276148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</a:rPr>
              <a:t>raw +0.416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08487" y="3364992"/>
            <a:ext cx="10607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9E0B"/>
                </a:solidFill>
              </a:rPr>
              <a:t>partial +0.122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42428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4364B"/>
                </a:solidFill>
              </a:rPr>
              <a:t>50-step max T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350337" y="4434840"/>
            <a:ext cx="1521562" cy="0"/>
          </a:xfrm>
          <a:prstGeom prst="line">
            <a:avLst/>
          </a:prstGeom>
          <a:noFill/>
          <a:ln w="31750">
            <a:solidFill>
              <a:srgbClr val="AAB6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8747" y="4361688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77185" y="436168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979" y="399592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</a:rPr>
              <a:t>raw +0.159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19985" y="4599432"/>
            <a:ext cx="10607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9E0B"/>
                </a:solidFill>
              </a:rPr>
              <a:t>partial +0.029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92440" y="111556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1193292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3B82F6"/>
                </a:solidFill>
              </a:rPr>
              <a:t>Raw association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9582912" y="1115568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28632" y="119329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59E0B"/>
                </a:solidFill>
              </a:rPr>
              <a:t>Partial after cum. Ah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640080" y="58064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9344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Interpretation: cumulative exposure explains most of the monotonic relationship; ablation later tests nonlinear predictive value.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Model-Rank Stability Across Splits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Repeated complete-cell holdouts prevent one lucky partition from deciding the story.</a:t>
            </a:r>
            <a:endParaRPr lang="en-US" sz="1350" dirty="0"/>
          </a:p>
        </p:txBody>
      </p:sp>
      <p:pic>
        <p:nvPicPr>
          <p:cNvPr id="4" name="Image 0" descr="/mnt/data/rw_edit/pptx_unzip/ppt/media/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667" y="1143000"/>
            <a:ext cx="7316185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8064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59344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Random Forest ranks #1 in 4/5 splits; GRU wins seed 2026 → directionally stable, not universally superior.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21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4434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423160"/>
            <a:ext cx="10744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</a:rPr>
              <a:t>Modeling, Reliability &amp; Reflection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77824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21A8"/>
                </a:solidFill>
              </a:rPr>
              <a:t>Models &amp; Variables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5012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9876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21A8"/>
                </a:solidFill>
              </a:rPr>
              <a:t>Metrics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7064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21A8"/>
                </a:solidFill>
              </a:rPr>
              <a:t>Reliability &amp; XAI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19388" y="5779008"/>
            <a:ext cx="24825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74252" y="5925312"/>
            <a:ext cx="2372868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21A8"/>
                </a:solidFill>
              </a:rPr>
              <a:t>Tool + AI Reflection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 &amp; Variables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feature set, same unseen-cell protocol, five reproducible evaluation partitions.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2072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3B82F6"/>
                </a:solidFill>
              </a:rPr>
              <a:t>42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1892808" y="114300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22072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4364B"/>
                </a:solidFill>
              </a:rPr>
              <a:t>123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054096" y="114300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122072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4364B"/>
                </a:solidFill>
              </a:rPr>
              <a:t>2026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215384" y="114300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1104" y="122072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4364B"/>
                </a:solidFill>
              </a:rPr>
              <a:t>27182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376672" y="114300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2392" y="122072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4364B"/>
                </a:solidFill>
              </a:rPr>
              <a:t>31415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31520" y="1874520"/>
            <a:ext cx="333756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74520"/>
            <a:ext cx="73152" cy="3063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208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Target &amp; inputs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50008"/>
            <a:ext cx="3017520" cy="24597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Target: continuous next-reference SOH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14 inputs: instantaneous electrical/thermal + cumulative Ah + 50-step summaries + 2 temperature-missingness indicators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43400" y="1874520"/>
            <a:ext cx="333756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874520"/>
            <a:ext cx="73152" cy="3063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0208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Candidate models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6280" y="2350008"/>
            <a:ext cx="3017520" cy="24597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Ridge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kNN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Random Forest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LightGBM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Compact GRU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55280" y="1874520"/>
            <a:ext cx="333756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0" y="1874520"/>
            <a:ext cx="73152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0208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Split &amp; metric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38160" y="2350008"/>
            <a:ext cx="3017520" cy="24597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Per seed: 18 train · 5 calibration · 5 test cells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Primary metric: macro-cell MAE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Hyperparameters frozen after seed-42 development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66013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4D"/>
                </a:solidFill>
              </a:rPr>
              <a:t>Every final score is computed on cells absent from both fitting and calibration.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Five-Model Result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Mean performance across five cell-disjoint evaluation partitions.</a:t>
            </a:r>
            <a:endParaRPr lang="en-US" sz="1350" dirty="0"/>
          </a:p>
        </p:txBody>
      </p:sp>
      <p:pic>
        <p:nvPicPr>
          <p:cNvPr id="4" name="Image 0" descr="/mnt/data/rw_edit/pptx_unzip/ppt/media/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4933"/>
            <a:ext cx="7772400" cy="42452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417320"/>
            <a:ext cx="2697480" cy="1234440"/>
          </a:xfrm>
          <a:prstGeom prst="roundRect">
            <a:avLst>
              <a:gd name="adj" fmla="val 2963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50808" y="1536192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</a:rPr>
              <a:t>0.02445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750808" y="1984248"/>
            <a:ext cx="24780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Random Forest mean macro-cell MAE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8641080" y="2834640"/>
            <a:ext cx="2697480" cy="1234440"/>
          </a:xfrm>
          <a:prstGeom prst="roundRect">
            <a:avLst>
              <a:gd name="adj" fmla="val 2963"/>
            </a:avLst>
          </a:prstGeom>
          <a:solidFill>
            <a:srgbClr val="EEF5FF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50808" y="2953512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4 / 5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750808" y="3401568"/>
            <a:ext cx="24780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#1 ranked splits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8641080" y="4251960"/>
            <a:ext cx="2697480" cy="1234440"/>
          </a:xfrm>
          <a:prstGeom prst="roundRect">
            <a:avLst>
              <a:gd name="adj" fmla="val 2963"/>
            </a:avLst>
          </a:prstGeom>
          <a:solidFill>
            <a:srgbClr val="FFF6E8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50808" y="4370832"/>
            <a:ext cx="24780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~8.1%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750808" y="4818888"/>
            <a:ext cx="24780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lower mean MAE than GRU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40080" y="58064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59344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RQ2 answer: Random Forest is the most defensible reference model, but its lead is modest—not universal dominance.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Reliability · Conformal Coverage &amp; EOL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coverage is not enough when the retirement threshold matters.</a:t>
            </a:r>
            <a:endParaRPr lang="en-US" sz="1350" dirty="0"/>
          </a:p>
        </p:txBody>
      </p:sp>
      <p:pic>
        <p:nvPicPr>
          <p:cNvPr id="4" name="Image 0" descr="/mnt/data/rw_edit/pptx_unzip/ppt/media/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59386"/>
            <a:ext cx="7726680" cy="45849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25880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ECF8F0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96528" y="1444752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92.78%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796528" y="1892808"/>
            <a:ext cx="23865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Macro-cell coverage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8686800" y="2697480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FFF6E8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96528" y="2816352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88.67%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796528" y="3264408"/>
            <a:ext cx="23865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EOL pooled-row coverage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8686800" y="4069080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FFF0F1"/>
          </a:solidFill>
          <a:ln w="12700">
            <a:solidFill>
              <a:srgbClr val="D7E3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96528" y="4187952"/>
            <a:ext cx="23865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484D"/>
                </a:solidFill>
              </a:rPr>
              <a:t>20.94%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796528" y="4636008"/>
            <a:ext cx="23865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61738A"/>
                </a:solidFill>
              </a:rPr>
              <a:t>Missed-EOL rate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40080" y="58064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59344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4D"/>
                </a:solidFill>
              </a:rPr>
              <a:t>RQ3 reliability: credible in aggregate, but weaker near EOL.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Interpretation · SHAP + Feature-Family Ablation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complementary views agree that cumulative exposure is the dominant predictive signal.</a:t>
            </a:r>
            <a:endParaRPr lang="en-US" sz="1350" dirty="0"/>
          </a:p>
        </p:txBody>
      </p:sp>
      <p:pic>
        <p:nvPicPr>
          <p:cNvPr id="4" name="Image 0" descr="/mnt/data/rw_edit/pptx_unzip/ppt/media/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9044"/>
            <a:ext cx="10881360" cy="36855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5257800"/>
            <a:ext cx="4892040" cy="822960"/>
          </a:xfrm>
          <a:prstGeom prst="roundRect">
            <a:avLst>
              <a:gd name="adj" fmla="val 5556"/>
            </a:avLst>
          </a:prstGeom>
          <a:solidFill>
            <a:srgbClr val="FFF6E8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525780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54041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SHAP #1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5733288"/>
            <a:ext cx="457200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64B"/>
                </a:solidFill>
              </a:rPr>
              <a:t>cum_ah · mean |SHAP| = 0.0766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355080" y="5257800"/>
            <a:ext cx="4892040" cy="822960"/>
          </a:xfrm>
          <a:prstGeom prst="roundRect">
            <a:avLst>
              <a:gd name="adj" fmla="val 5556"/>
            </a:avLst>
          </a:prstGeom>
          <a:solidFill>
            <a:srgbClr val="FFF0F1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5257800"/>
            <a:ext cx="73152" cy="82296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54041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</a:rPr>
              <a:t>Ablation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37960" y="5733288"/>
            <a:ext cx="457200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64B"/>
                </a:solidFill>
              </a:rPr>
              <a:t>Remove cumulative exposure → +98.29% macro-cell MAE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Tool &amp; Efficiency Trade-off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current deliverable is notebook-first; timing is hardware and protocol dependent.</a:t>
            </a:r>
            <a:endParaRPr lang="en-US" sz="1350" dirty="0"/>
          </a:p>
        </p:txBody>
      </p:sp>
      <p:pic>
        <p:nvPicPr>
          <p:cNvPr id="4" name="Image 0" descr="/mnt/data/rw_edit/pptx_unzip/ppt/media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77" y="1234440"/>
            <a:ext cx="6287286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384048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0" y="1280160"/>
            <a:ext cx="73152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42646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Live demo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0" y="1755648"/>
            <a:ext cx="3520440" cy="72237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64B"/>
                </a:solidFill>
              </a:rPr>
              <a:t>Notebook A → SQL Q3/Q4 + RQ1 evidence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64B"/>
                </a:solidFill>
              </a:rPr>
              <a:t>Notebook B → split table + model result + conformal/EOL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98080" y="2834640"/>
            <a:ext cx="384048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0" y="283464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298094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Trade-off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0" y="3310128"/>
            <a:ext cx="3520440" cy="72237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Random Forest = accuracy-first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LightGBM = strong efficiency alternative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98080" y="4389120"/>
            <a:ext cx="3840480" cy="1143000"/>
          </a:xfrm>
          <a:prstGeom prst="roundRect">
            <a:avLst>
              <a:gd name="adj" fmla="val 4000"/>
            </a:avLst>
          </a:prstGeom>
          <a:solidFill>
            <a:srgbClr val="FFF6E8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0" y="43891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453542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Important caveat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80960" y="4864608"/>
            <a:ext cx="3520440" cy="5394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64B"/>
                </a:solidFill>
              </a:rPr>
              <a:t>No standalone dashboard is included in the current package.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640080" y="58064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59344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Use the notebooks and saved figures as the reproducible analysis tool during presentation.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Reflection · Human Delta &amp; Hallucination Check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Focus on what humans verified and where verification changed the story.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3886200"/>
          </a:xfrm>
          <a:prstGeom prst="roundRect">
            <a:avLst>
              <a:gd name="adj" fmla="val 1333"/>
            </a:avLst>
          </a:prstGeom>
          <a:solidFill>
            <a:srgbClr val="EEF5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3886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AI 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3108960" cy="32826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Use AI only as an assistant for tasks such as: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SQL/window design explanation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leakage-safe split checks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conformal / SHAP explanations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Document only prompts your group actually used.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29000" cy="3886200"/>
          </a:xfrm>
          <a:prstGeom prst="roundRect">
            <a:avLst>
              <a:gd name="adj" fmla="val 1333"/>
            </a:avLst>
          </a:prstGeom>
          <a:solidFill>
            <a:srgbClr val="ECF8F0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234440"/>
            <a:ext cx="73152" cy="3886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Human Delta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709928"/>
            <a:ext cx="3108960" cy="32826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Manual checks already evidenced: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RW10 rolling features checked against SQL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train/calibration/test cells verified disjoint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approximate TreeSHAP checked against exact behavior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29000" cy="3886200"/>
          </a:xfrm>
          <a:prstGeom prst="roundRect">
            <a:avLst>
              <a:gd name="adj" fmla="val 1333"/>
            </a:avLst>
          </a:prstGeom>
          <a:solidFill>
            <a:srgbClr val="FFF6E8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234440"/>
            <a:ext cx="73152" cy="3886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Hallucination 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1709928"/>
            <a:ext cx="3108960" cy="328269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Key corrections: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proposal expected LightGBM → experiment selected RF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SHAP / correlation ≠ causation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4364B"/>
                </a:solidFill>
              </a:rPr>
              <a:t>• global coverage does not hide weaker EOL behavior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70585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4D"/>
                </a:solidFill>
              </a:rPr>
              <a:t>Before submission: attach 1–2 real prompt examples and briefly state how each answer was verified.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· Answers to the Research Questions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101852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73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messages to leave with the audience.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4069080"/>
          </a:xfrm>
          <a:prstGeom prst="roundRect">
            <a:avLst>
              <a:gd name="adj" fmla="val 1333"/>
            </a:avLst>
          </a:prstGeom>
          <a:solidFill>
            <a:srgbClr val="EEF5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4069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RQ1 · Exposure dominates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3108960" cy="346557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Cumulative Ah is the strongest monotonic degradation signal.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Median ρ = −0.9961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Recent 50-step summaries have weak residual monotonic association after controlling cumulative Ah.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29000" cy="4069080"/>
          </a:xfrm>
          <a:prstGeom prst="roundRect">
            <a:avLst>
              <a:gd name="adj" fmla="val 1333"/>
            </a:avLst>
          </a:prstGeom>
          <a:solidFill>
            <a:srgbClr val="ECF8F0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234440"/>
            <a:ext cx="73152" cy="4069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RQ2 · RF leads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709928"/>
            <a:ext cx="3108960" cy="346557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Random Forest is the most defensible reference model for unseen-cell transfer.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Macro-cell MAE = 0.02445 ± 0.00410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Average rank = 1.2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Wins 4/5 splits.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29000" cy="4069080"/>
          </a:xfrm>
          <a:prstGeom prst="roundRect">
            <a:avLst>
              <a:gd name="adj" fmla="val 1333"/>
            </a:avLst>
          </a:prstGeom>
          <a:solidFill>
            <a:srgbClr val="F4EEFF"/>
          </a:solidFill>
          <a:ln w="15240">
            <a:solidFill>
              <a:srgbClr val="D7E3F2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234440"/>
            <a:ext cx="73152" cy="4069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380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RQ3 · EOL is harder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1709928"/>
            <a:ext cx="3108960" cy="346557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Aggregate uncertainty is reasonable, but threshold behavior remains weaker.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Coverage = 92.78% overall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Missed EOL = 20.94%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Remove cum. exposure → +98.29% MAE.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27080" cy="530352"/>
          </a:xfrm>
          <a:prstGeom prst="roundRect">
            <a:avLst>
              <a:gd name="adj" fmla="val 6897"/>
            </a:avLst>
          </a:prstGeom>
          <a:solidFill>
            <a:srgbClr val="F3FAF6"/>
          </a:solidFill>
          <a:ln w="12700">
            <a:solidFill>
              <a:srgbClr val="D6E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751576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Practical message: credible cross-battery SOH needs whole-cell holdout + repeated splits + EOL / uncertainty diagnostics.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01384"/>
            <a:ext cx="201168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50">
                <a:solidFill>
                  <a:srgbClr val="8291A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Q&amp;A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463040" y="3063240"/>
            <a:ext cx="9235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E6F5"/>
                </a:solidFill>
              </a:rPr>
              <a:t>Cross-Battery State-of-Health Estimation under Randomized Loading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3822192"/>
            <a:ext cx="32461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0" y="41605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13069</Words>
  <Application>WPS Presentation</Application>
  <PresentationFormat>On-screen Show (16:9)</PresentationFormat>
  <Paragraphs>977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SimSun</vt:lpstr>
      <vt:lpstr>Wingdings</vt:lpstr>
      <vt:lpstr>Arial</vt:lpstr>
      <vt:lpstr>Arial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FPT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Cross-Battery State-of-Health Estimation under Randomized Loading</dc:title>
  <dc:creator>OpenAI</dc:creator>
  <dc:subject>Revised university presentation</dc:subject>
  <cp:lastModifiedBy>Minh Thư Đặng</cp:lastModifiedBy>
  <cp:revision>2</cp:revision>
  <dcterms:created xsi:type="dcterms:W3CDTF">2026-10-16T01:40:00Z</dcterms:created>
  <dcterms:modified xsi:type="dcterms:W3CDTF">2026-10-16T06:06:04Z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EFFD0341BE56476F973ED3BE504E2387_12</vt:lpwstr>
  </property>
  <property fmtid="{D5CDD505-2E9C-101B-9397-08002B2CF9AE}" pid="3" name="KSOProductBuildVer">
    <vt:lpwstr>1033-12.1.0.28485</vt:lpwstr>
  </property>
</Properties>
</file>